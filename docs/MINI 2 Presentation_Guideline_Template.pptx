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3" r:id="rId16"/>
    <p:sldId id="275" r:id="rId17"/>
    <p:sldId id="276" r:id="rId18"/>
    <p:sldId id="277" r:id="rId19"/>
    <p:sldId id="278" r:id="rId20"/>
    <p:sldId id="279" r:id="rId21"/>
    <p:sldId id="280" r:id="rId22"/>
    <p:sldId id="281" r:id="rId23"/>
    <p:sldId id="282" r:id="rId24"/>
    <p:sldId id="283" r:id="rId25"/>
    <p:sldId id="284" r:id="rId26"/>
    <p:sldId id="285" r:id="rId27"/>
    <p:sldId id="286" r:id="rId28"/>
    <p:sldId id="287" r:id="rId29"/>
    <p:sldId id="288" r:id="rId3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20" autoAdjust="0"/>
    <p:restoredTop sz="84940" autoAdjust="0"/>
  </p:normalViewPr>
  <p:slideViewPr>
    <p:cSldViewPr snapToGrid="0" snapToObjects="1">
      <p:cViewPr varScale="1">
        <p:scale>
          <a:sx n="59" d="100"/>
          <a:sy n="59" d="100"/>
        </p:scale>
        <p:origin x="753" y="2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72396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011680"/>
            <a:ext cx="5486400" cy="54864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206240"/>
            <a:ext cx="3840480" cy="38404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973962" y="128016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Presentation Guideline &amp; Template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822960" y="3886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/ Program: </a:t>
            </a:r>
            <a:r>
              <a:rPr lang="en-US" sz="130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Department]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42976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 &amp; ID: </a:t>
            </a:r>
            <a:r>
              <a:rPr lang="en-US" sz="130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Name / ID]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46634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</a:t>
            </a:r>
            <a:r>
              <a:rPr lang="en-US" sz="130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Supervisor Name]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6172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C9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Date]</a:t>
            </a:r>
            <a:endParaRPr lang="en-US" sz="1100" dirty="0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FF74F26E-8A15-8D1B-05D7-A0A00E546C7A}"/>
              </a:ext>
            </a:extLst>
          </p:cNvPr>
          <p:cNvSpPr/>
          <p:nvPr/>
        </p:nvSpPr>
        <p:spPr>
          <a:xfrm>
            <a:off x="822960" y="2617575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DIT-LOGO</a:t>
            </a:r>
            <a:endParaRPr lang="en-US" sz="3200" dirty="0"/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4762C76A-E705-7622-8665-03017EFAD46C}"/>
              </a:ext>
            </a:extLst>
          </p:cNvPr>
          <p:cNvSpPr/>
          <p:nvPr/>
        </p:nvSpPr>
        <p:spPr>
          <a:xfrm>
            <a:off x="973962" y="33375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TITLE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template covers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0881360" cy="1417320"/>
          </a:xfrm>
          <a:prstGeom prst="roundRect">
            <a:avLst>
              <a:gd name="adj" fmla="val 6452"/>
            </a:avLst>
          </a:prstGeom>
          <a:solidFill>
            <a:srgbClr val="EAF4F3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993392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2148840" y="2011680"/>
            <a:ext cx="0" cy="1051560"/>
          </a:xfrm>
          <a:prstGeom prst="line">
            <a:avLst/>
          </a:prstGeom>
          <a:noFill/>
          <a:ln w="15875">
            <a:solidFill>
              <a:srgbClr val="C7DE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77440" y="2011680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Requirement Specification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2377440" y="2450592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 analysis, proposed system, functional &amp; non-functional requirements, feasibility, and the SRS with use-case diagram.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429000"/>
            <a:ext cx="10881360" cy="1417320"/>
          </a:xfrm>
          <a:prstGeom prst="roundRect">
            <a:avLst>
              <a:gd name="adj" fmla="val 6452"/>
            </a:avLst>
          </a:prstGeom>
          <a:solidFill>
            <a:srgbClr val="EAF4F3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593592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4200" dirty="0"/>
          </a:p>
        </p:txBody>
      </p:sp>
      <p:sp>
        <p:nvSpPr>
          <p:cNvPr id="11" name="Shape 9"/>
          <p:cNvSpPr/>
          <p:nvPr/>
        </p:nvSpPr>
        <p:spPr>
          <a:xfrm>
            <a:off x="2148840" y="3611880"/>
            <a:ext cx="0" cy="1051560"/>
          </a:xfrm>
          <a:prstGeom prst="line">
            <a:avLst/>
          </a:prstGeom>
          <a:noFill/>
          <a:ln w="15875">
            <a:solidFill>
              <a:srgbClr val="C7DE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77440" y="3611880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2377440" y="4050792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data &amp; process modeling, database design, UML models, UI design, algorithms, flowcharts and security design.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5029200"/>
            <a:ext cx="10881360" cy="1417320"/>
          </a:xfrm>
          <a:prstGeom prst="roundRect">
            <a:avLst>
              <a:gd name="adj" fmla="val 6452"/>
            </a:avLst>
          </a:prstGeom>
          <a:solidFill>
            <a:srgbClr val="EAF4F3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5193792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4200" dirty="0"/>
          </a:p>
        </p:txBody>
      </p:sp>
      <p:sp>
        <p:nvSpPr>
          <p:cNvPr id="16" name="Shape 14"/>
          <p:cNvSpPr/>
          <p:nvPr/>
        </p:nvSpPr>
        <p:spPr>
          <a:xfrm>
            <a:off x="2148840" y="5212080"/>
            <a:ext cx="0" cy="1051560"/>
          </a:xfrm>
          <a:prstGeom prst="line">
            <a:avLst/>
          </a:prstGeom>
          <a:noFill/>
          <a:ln w="15875">
            <a:solidFill>
              <a:srgbClr val="C7DE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77440" y="5212080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Implementation, Testing &amp; Results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2377440" y="5650992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environment, tools, module implementation, testing strategy, test cases, results, discussion and screenshots.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Year Project Presentation Guideline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3D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9875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Requirement Specification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052560" y="640080"/>
            <a:ext cx="2743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0" b="1" dirty="0">
                <a:solidFill>
                  <a:srgbClr val="028090">
                    <a:alpha val="4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0" dirty="0"/>
          </a:p>
        </p:txBody>
      </p:sp>
      <p:sp>
        <p:nvSpPr>
          <p:cNvPr id="5" name="Shape 3"/>
          <p:cNvSpPr/>
          <p:nvPr/>
        </p:nvSpPr>
        <p:spPr>
          <a:xfrm>
            <a:off x="822960" y="3703320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3703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80160" y="3657600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Existing System Analysis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4160520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4160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80160" y="4114800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22960" y="4617720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6177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80160" y="4572000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&amp; Non-Functional Requirements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22960" y="5074920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5074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80160" y="5029200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&amp; System Requirements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22960" y="5532120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55321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80160" y="5486400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Study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22960" y="5989320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5989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80160" y="5943600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SRS with Use-Case Diagram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64922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the purpose of this chapter: to define WHAT the system must do before design begins.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Summarise the problem being solved and the target users/stakeholders.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 the chapter structure (existing system, proposed system, requirements, feasibility, SRS).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this to one slide — detail belongs in the sections that follow.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406640" y="1691640"/>
            <a:ext cx="4206240" cy="4480560"/>
          </a:xfrm>
          <a:prstGeom prst="roundRect">
            <a:avLst>
              <a:gd name="adj" fmla="val 2609"/>
            </a:avLst>
          </a:prstGeom>
          <a:solidFill>
            <a:srgbClr val="EAF4F3"/>
          </a:solidFill>
          <a:ln/>
          <a:effectLst>
            <a:outerShdw blurRad="76200" dist="25400" dir="5400000" algn="bl" rotWithShape="0">
              <a:srgbClr val="1B1B1B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680960" y="1920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PRESENTING 5.1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680960" y="2331720"/>
            <a:ext cx="3657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tip: 1–2 sentences per bullet, spoken — don't read the slide verbatim.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Five · System Requirement Specification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System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64922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new system being developed and how it addresses each limitation identified in 5.2.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 the key improvements: automation, security, speed, accessibility, cost reduction.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the scope clearly — what is included and what is explicitly out of scope.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Mention the overall approach (web app, mobile app, ML-based system, IoT/automation, etc.).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406640" y="1691640"/>
            <a:ext cx="4206240" cy="4480560"/>
          </a:xfrm>
          <a:prstGeom prst="roundRect">
            <a:avLst>
              <a:gd name="adj" fmla="val 2609"/>
            </a:avLst>
          </a:prstGeom>
          <a:solidFill>
            <a:srgbClr val="EAF4F3"/>
          </a:solidFill>
          <a:ln/>
          <a:effectLst>
            <a:outerShdw blurRad="76200" dist="25400" dir="5400000" algn="bl" rotWithShape="0">
              <a:srgbClr val="1B1B1B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680960" y="1920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TO 5.2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680960" y="2331720"/>
            <a:ext cx="3657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 per limitation from 5.2, mapped directly to a proposed-system improvement.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Five · System Requirement Specification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Requirements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64922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what the system SHALL do, written as short, testable statements.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system shall allow a registered user to log in using email and password.”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system shall generate a PDF report of monthly transactions.”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system shall send an email notification when a request is approved.”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requirements by module or actor (User, Admin, System) for clarity.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406640" y="1691640"/>
            <a:ext cx="4206240" cy="4480560"/>
          </a:xfrm>
          <a:prstGeom prst="roundRect">
            <a:avLst>
              <a:gd name="adj" fmla="val 2609"/>
            </a:avLst>
          </a:prstGeom>
          <a:solidFill>
            <a:srgbClr val="EAF4F3"/>
          </a:solidFill>
          <a:ln/>
          <a:effectLst>
            <a:outerShdw blurRad="76200" dist="25400" dir="5400000" algn="bl" rotWithShape="0">
              <a:srgbClr val="1B1B1B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680960" y="1920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680960" y="2331720"/>
            <a:ext cx="3657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each requirement (FR-01, FR-02 …) so it can be traced to a test case in Chapter 7.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Five · System Requirement Specification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Non-Functional Requirements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Qualities that describe HOW WELL the system performs — give one measurable target per item.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514600" cy="1920240"/>
          </a:xfrm>
          <a:prstGeom prst="roundRect">
            <a:avLst>
              <a:gd name="adj" fmla="val 4762"/>
            </a:avLst>
          </a:prstGeom>
          <a:solidFill>
            <a:srgbClr val="EAF4F3"/>
          </a:solidFill>
          <a:ln/>
        </p:spPr>
      </p:sp>
      <p:sp>
        <p:nvSpPr>
          <p:cNvPr id="6" name="Shape 4"/>
          <p:cNvSpPr/>
          <p:nvPr/>
        </p:nvSpPr>
        <p:spPr>
          <a:xfrm>
            <a:off x="1495044" y="2167128"/>
            <a:ext cx="621792" cy="62179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1495044" y="216712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58368" y="2880360"/>
            <a:ext cx="2295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85800" y="32004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Authentication, authorization, data encryption, access control.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37560" y="1965960"/>
            <a:ext cx="2514600" cy="1920240"/>
          </a:xfrm>
          <a:prstGeom prst="roundRect">
            <a:avLst>
              <a:gd name="adj" fmla="val 4762"/>
            </a:avLst>
          </a:prstGeom>
          <a:solidFill>
            <a:srgbClr val="EAF4F3"/>
          </a:solidFill>
          <a:ln/>
        </p:spPr>
      </p:sp>
      <p:sp>
        <p:nvSpPr>
          <p:cNvPr id="11" name="Shape 9"/>
          <p:cNvSpPr/>
          <p:nvPr/>
        </p:nvSpPr>
        <p:spPr>
          <a:xfrm>
            <a:off x="4283964" y="2167128"/>
            <a:ext cx="621792" cy="62179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4283964" y="216712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447288" y="2880360"/>
            <a:ext cx="2295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474720" y="32004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time, throughput, load handling under expected usage.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26480" y="1965960"/>
            <a:ext cx="2514600" cy="1920240"/>
          </a:xfrm>
          <a:prstGeom prst="roundRect">
            <a:avLst>
              <a:gd name="adj" fmla="val 4762"/>
            </a:avLst>
          </a:prstGeom>
          <a:solidFill>
            <a:srgbClr val="EAF4F3"/>
          </a:solidFill>
          <a:ln/>
        </p:spPr>
      </p:sp>
      <p:sp>
        <p:nvSpPr>
          <p:cNvPr id="16" name="Shape 14"/>
          <p:cNvSpPr/>
          <p:nvPr/>
        </p:nvSpPr>
        <p:spPr>
          <a:xfrm>
            <a:off x="7072884" y="2167128"/>
            <a:ext cx="621792" cy="62179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7072884" y="216712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36208" y="2880360"/>
            <a:ext cx="2295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263640" y="32004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Consistent, correct behaviour; graceful handling of failures.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915400" y="1965960"/>
            <a:ext cx="2514600" cy="1920240"/>
          </a:xfrm>
          <a:prstGeom prst="roundRect">
            <a:avLst>
              <a:gd name="adj" fmla="val 4762"/>
            </a:avLst>
          </a:prstGeom>
          <a:solidFill>
            <a:srgbClr val="EAF4F3"/>
          </a:solidFill>
          <a:ln/>
        </p:spPr>
      </p:sp>
      <p:sp>
        <p:nvSpPr>
          <p:cNvPr id="21" name="Shape 19"/>
          <p:cNvSpPr/>
          <p:nvPr/>
        </p:nvSpPr>
        <p:spPr>
          <a:xfrm>
            <a:off x="9861804" y="2167128"/>
            <a:ext cx="621792" cy="62179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9861804" y="216712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025128" y="2880360"/>
            <a:ext cx="2295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Maintainability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052560" y="32004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Modular, documented code that is easy to update and extend.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4160520"/>
            <a:ext cx="2514600" cy="1920240"/>
          </a:xfrm>
          <a:prstGeom prst="roundRect">
            <a:avLst>
              <a:gd name="adj" fmla="val 4762"/>
            </a:avLst>
          </a:prstGeom>
          <a:solidFill>
            <a:srgbClr val="EAF4F3"/>
          </a:solidFill>
          <a:ln/>
        </p:spPr>
      </p:sp>
      <p:sp>
        <p:nvSpPr>
          <p:cNvPr id="26" name="Shape 24"/>
          <p:cNvSpPr/>
          <p:nvPr/>
        </p:nvSpPr>
        <p:spPr>
          <a:xfrm>
            <a:off x="1495044" y="4361688"/>
            <a:ext cx="621792" cy="62179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7" name="Text 25"/>
          <p:cNvSpPr/>
          <p:nvPr/>
        </p:nvSpPr>
        <p:spPr>
          <a:xfrm>
            <a:off x="1495044" y="436168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58368" y="5074920"/>
            <a:ext cx="2295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685800" y="53949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Uptime targets; system accessible when users need it.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337560" y="4160520"/>
            <a:ext cx="2514600" cy="1920240"/>
          </a:xfrm>
          <a:prstGeom prst="roundRect">
            <a:avLst>
              <a:gd name="adj" fmla="val 4762"/>
            </a:avLst>
          </a:prstGeom>
          <a:solidFill>
            <a:srgbClr val="EAF4F3"/>
          </a:solidFill>
          <a:ln/>
        </p:spPr>
      </p:sp>
      <p:sp>
        <p:nvSpPr>
          <p:cNvPr id="31" name="Shape 29"/>
          <p:cNvSpPr/>
          <p:nvPr/>
        </p:nvSpPr>
        <p:spPr>
          <a:xfrm>
            <a:off x="4283964" y="4361688"/>
            <a:ext cx="621792" cy="62179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2" name="Text 30"/>
          <p:cNvSpPr/>
          <p:nvPr/>
        </p:nvSpPr>
        <p:spPr>
          <a:xfrm>
            <a:off x="4283964" y="436168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447288" y="5074920"/>
            <a:ext cx="2295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3474720" y="53949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Ability to handle growth in users, data, or transactions.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126480" y="4160520"/>
            <a:ext cx="2514600" cy="1920240"/>
          </a:xfrm>
          <a:prstGeom prst="roundRect">
            <a:avLst>
              <a:gd name="adj" fmla="val 4762"/>
            </a:avLst>
          </a:prstGeom>
          <a:solidFill>
            <a:srgbClr val="EAF4F3"/>
          </a:solidFill>
          <a:ln/>
        </p:spPr>
      </p:sp>
      <p:sp>
        <p:nvSpPr>
          <p:cNvPr id="36" name="Shape 34"/>
          <p:cNvSpPr/>
          <p:nvPr/>
        </p:nvSpPr>
        <p:spPr>
          <a:xfrm>
            <a:off x="7072884" y="4361688"/>
            <a:ext cx="621792" cy="62179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7" name="Text 35"/>
          <p:cNvSpPr/>
          <p:nvPr/>
        </p:nvSpPr>
        <p:spPr>
          <a:xfrm>
            <a:off x="7072884" y="436168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236208" y="5074920"/>
            <a:ext cx="2295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6263640" y="53949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Intuitive, accessible, and easy-to-learn user interface.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Five · System Requirement Specification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5.7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Requirements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548890" cy="4343400"/>
          </a:xfrm>
          <a:prstGeom prst="roundRect">
            <a:avLst>
              <a:gd name="adj" fmla="val 2870"/>
            </a:avLst>
          </a:prstGeom>
          <a:solidFill>
            <a:srgbClr val="EAF4F3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947672"/>
            <a:ext cx="22745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85800" y="2468880"/>
            <a:ext cx="227457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Processor: e.g. Intel i5 / equivalent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RAM: minimum 8GB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Storage: SSD, capacity as needed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specs (if applicable)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26130" y="1783080"/>
            <a:ext cx="2548890" cy="4343400"/>
          </a:xfrm>
          <a:prstGeom prst="roundRect">
            <a:avLst>
              <a:gd name="adj" fmla="val 2870"/>
            </a:avLst>
          </a:prstGeom>
          <a:solidFill>
            <a:srgbClr val="DCEEEC"/>
          </a:solidFill>
          <a:ln/>
        </p:spPr>
      </p:sp>
      <p:sp>
        <p:nvSpPr>
          <p:cNvPr id="8" name="Text 6"/>
          <p:cNvSpPr/>
          <p:nvPr/>
        </p:nvSpPr>
        <p:spPr>
          <a:xfrm>
            <a:off x="3463290" y="1947672"/>
            <a:ext cx="22745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3463290" y="2468880"/>
            <a:ext cx="227457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language / framework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Management System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and development tools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03620" y="1783080"/>
            <a:ext cx="2548890" cy="4343400"/>
          </a:xfrm>
          <a:prstGeom prst="roundRect">
            <a:avLst>
              <a:gd name="adj" fmla="val 2870"/>
            </a:avLst>
          </a:prstGeom>
          <a:solidFill>
            <a:srgbClr val="EAF4F3"/>
          </a:solidFill>
          <a:ln/>
        </p:spPr>
      </p:sp>
      <p:sp>
        <p:nvSpPr>
          <p:cNvPr id="11" name="Text 9"/>
          <p:cNvSpPr/>
          <p:nvPr/>
        </p:nvSpPr>
        <p:spPr>
          <a:xfrm>
            <a:off x="6240780" y="1947672"/>
            <a:ext cx="22745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240780" y="2468880"/>
            <a:ext cx="227457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bandwidth requirements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LAN/WAN considerations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/ third-party service access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hosting requirements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881110" y="1783080"/>
            <a:ext cx="2548890" cy="4343400"/>
          </a:xfrm>
          <a:prstGeom prst="roundRect">
            <a:avLst>
              <a:gd name="adj" fmla="val 2870"/>
            </a:avLst>
          </a:prstGeom>
          <a:solidFill>
            <a:srgbClr val="DCEEEC"/>
          </a:solidFill>
          <a:ln/>
        </p:spPr>
      </p:sp>
      <p:sp>
        <p:nvSpPr>
          <p:cNvPr id="14" name="Text 12"/>
          <p:cNvSpPr/>
          <p:nvPr/>
        </p:nvSpPr>
        <p:spPr>
          <a:xfrm>
            <a:off x="9018270" y="1947672"/>
            <a:ext cx="22745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&amp; Algorithms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9018270" y="2468880"/>
            <a:ext cx="227457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model(s) used, if any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Algorithm(s) and libraries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Training/inference requirements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size &amp; format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Five · System Requirement Specification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5.8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Feasibility Study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993392" cy="4343400"/>
          </a:xfrm>
          <a:prstGeom prst="roundRect">
            <a:avLst>
              <a:gd name="adj" fmla="val 3670"/>
            </a:avLst>
          </a:prstGeom>
          <a:solidFill>
            <a:srgbClr val="EAF4F3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947672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85800" y="2468880"/>
            <a:ext cx="171907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skills &amp; technology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Compatible tools/frameworks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risks identified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770632" y="1783080"/>
            <a:ext cx="1993392" cy="4343400"/>
          </a:xfrm>
          <a:prstGeom prst="roundRect">
            <a:avLst>
              <a:gd name="adj" fmla="val 3670"/>
            </a:avLst>
          </a:prstGeom>
          <a:solidFill>
            <a:srgbClr val="DCEEEC"/>
          </a:solidFill>
          <a:ln/>
        </p:spPr>
      </p:sp>
      <p:sp>
        <p:nvSpPr>
          <p:cNvPr id="8" name="Text 6"/>
          <p:cNvSpPr/>
          <p:nvPr/>
        </p:nvSpPr>
        <p:spPr>
          <a:xfrm>
            <a:off x="2907792" y="1947672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2907792" y="2468880"/>
            <a:ext cx="171907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cost estimate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Cost–benefit analysis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on investment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992624" y="1783080"/>
            <a:ext cx="1993392" cy="4343400"/>
          </a:xfrm>
          <a:prstGeom prst="roundRect">
            <a:avLst>
              <a:gd name="adj" fmla="val 3670"/>
            </a:avLst>
          </a:prstGeom>
          <a:solidFill>
            <a:srgbClr val="EAF4F3"/>
          </a:solidFill>
          <a:ln/>
        </p:spPr>
      </p:sp>
      <p:sp>
        <p:nvSpPr>
          <p:cNvPr id="11" name="Text 9"/>
          <p:cNvSpPr/>
          <p:nvPr/>
        </p:nvSpPr>
        <p:spPr>
          <a:xfrm>
            <a:off x="5129784" y="1947672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129784" y="2468880"/>
            <a:ext cx="171907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 user workflows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training needs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Organisational acceptance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214616" y="1783080"/>
            <a:ext cx="1993392" cy="4343400"/>
          </a:xfrm>
          <a:prstGeom prst="roundRect">
            <a:avLst>
              <a:gd name="adj" fmla="val 3670"/>
            </a:avLst>
          </a:prstGeom>
          <a:solidFill>
            <a:srgbClr val="DCEEEC"/>
          </a:solidFill>
          <a:ln/>
        </p:spPr>
      </p:sp>
      <p:sp>
        <p:nvSpPr>
          <p:cNvPr id="14" name="Text 12"/>
          <p:cNvSpPr/>
          <p:nvPr/>
        </p:nvSpPr>
        <p:spPr>
          <a:xfrm>
            <a:off x="7351776" y="1947672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7351776" y="2468880"/>
            <a:ext cx="171907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protection compliance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Licensing of tools/libraries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requirements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436608" y="1783080"/>
            <a:ext cx="1993392" cy="4343400"/>
          </a:xfrm>
          <a:prstGeom prst="roundRect">
            <a:avLst>
              <a:gd name="adj" fmla="val 3670"/>
            </a:avLst>
          </a:prstGeom>
          <a:solidFill>
            <a:srgbClr val="EAF4F3"/>
          </a:solidFill>
          <a:ln/>
        </p:spPr>
      </p:sp>
      <p:sp>
        <p:nvSpPr>
          <p:cNvPr id="17" name="Text 15"/>
          <p:cNvSpPr/>
          <p:nvPr/>
        </p:nvSpPr>
        <p:spPr>
          <a:xfrm>
            <a:off x="9573768" y="1947672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9573768" y="2468880"/>
            <a:ext cx="171907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timeline &amp; milestones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 for testing/review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Feasible within deadline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Five · System Requirement Specification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FIVE · 5.9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Requirement Specification – Use-Case Diagram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actors, system boundary, and use cases below with those specific to your project.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291840" y="1874520"/>
            <a:ext cx="6035040" cy="4343400"/>
          </a:xfrm>
          <a:prstGeom prst="roundRect">
            <a:avLst>
              <a:gd name="adj" fmla="val 1263"/>
            </a:avLst>
          </a:prstGeom>
          <a:solidFill>
            <a:srgbClr val="EAF4F3"/>
          </a:solidFill>
          <a:ln w="15875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91840" y="1938528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11880" y="2331720"/>
            <a:ext cx="2468880" cy="86868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11880" y="233172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/ Login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355080" y="2331720"/>
            <a:ext cx="2468880" cy="86868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55080" y="233172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Records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11880" y="3566160"/>
            <a:ext cx="2468880" cy="86868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11880" y="356616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Request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55080" y="3566160"/>
            <a:ext cx="2468880" cy="86868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A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356616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Report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11880" y="4800600"/>
            <a:ext cx="2468880" cy="86868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A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11880" y="480060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Users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355080" y="4800600"/>
            <a:ext cx="2468880" cy="86868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A8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55080" y="480060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Notifications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78408" y="2651760"/>
            <a:ext cx="329184" cy="329184"/>
          </a:xfrm>
          <a:prstGeom prst="ellipse">
            <a:avLst/>
          </a:prstGeom>
          <a:solidFill>
            <a:srgbClr val="0B3D42"/>
          </a:solidFill>
          <a:ln/>
        </p:spPr>
      </p:sp>
      <p:sp>
        <p:nvSpPr>
          <p:cNvPr id="20" name="Shape 18"/>
          <p:cNvSpPr/>
          <p:nvPr/>
        </p:nvSpPr>
        <p:spPr>
          <a:xfrm>
            <a:off x="1143000" y="2980944"/>
            <a:ext cx="0" cy="640080"/>
          </a:xfrm>
          <a:prstGeom prst="line">
            <a:avLst/>
          </a:prstGeom>
          <a:noFill/>
          <a:ln w="25400">
            <a:solidFill>
              <a:srgbClr val="0B3D4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5800" y="3246120"/>
            <a:ext cx="914400" cy="0"/>
          </a:xfrm>
          <a:prstGeom prst="line">
            <a:avLst/>
          </a:prstGeom>
          <a:noFill/>
          <a:ln w="25400">
            <a:solidFill>
              <a:srgbClr val="0B3D4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43000" y="3621024"/>
            <a:ext cx="0" cy="502920"/>
          </a:xfrm>
          <a:prstGeom prst="line">
            <a:avLst/>
          </a:prstGeom>
          <a:noFill/>
          <a:ln w="25400">
            <a:solidFill>
              <a:srgbClr val="0B3D4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43000" y="3621024"/>
            <a:ext cx="365760" cy="502920"/>
          </a:xfrm>
          <a:prstGeom prst="line">
            <a:avLst/>
          </a:prstGeom>
          <a:noFill/>
          <a:ln w="25400">
            <a:solidFill>
              <a:srgbClr val="0B3D4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41605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78408" y="4663440"/>
            <a:ext cx="329184" cy="329184"/>
          </a:xfrm>
          <a:prstGeom prst="ellipse">
            <a:avLst/>
          </a:prstGeom>
          <a:solidFill>
            <a:srgbClr val="0B3D42"/>
          </a:solidFill>
          <a:ln/>
        </p:spPr>
      </p:sp>
      <p:sp>
        <p:nvSpPr>
          <p:cNvPr id="26" name="Shape 24"/>
          <p:cNvSpPr/>
          <p:nvPr/>
        </p:nvSpPr>
        <p:spPr>
          <a:xfrm>
            <a:off x="1143000" y="4992624"/>
            <a:ext cx="0" cy="640080"/>
          </a:xfrm>
          <a:prstGeom prst="line">
            <a:avLst/>
          </a:prstGeom>
          <a:noFill/>
          <a:ln w="25400">
            <a:solidFill>
              <a:srgbClr val="0B3D4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85800" y="5257800"/>
            <a:ext cx="914400" cy="0"/>
          </a:xfrm>
          <a:prstGeom prst="line">
            <a:avLst/>
          </a:prstGeom>
          <a:noFill/>
          <a:ln w="25400">
            <a:solidFill>
              <a:srgbClr val="0B3D4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43000" y="5632704"/>
            <a:ext cx="0" cy="502920"/>
          </a:xfrm>
          <a:prstGeom prst="line">
            <a:avLst/>
          </a:prstGeom>
          <a:noFill/>
          <a:ln w="25400">
            <a:solidFill>
              <a:srgbClr val="0B3D4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43000" y="5632704"/>
            <a:ext cx="365760" cy="502920"/>
          </a:xfrm>
          <a:prstGeom prst="line">
            <a:avLst/>
          </a:prstGeom>
          <a:noFill/>
          <a:ln w="25400">
            <a:solidFill>
              <a:srgbClr val="0B3D4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61722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0259568" y="2651760"/>
            <a:ext cx="329184" cy="329184"/>
          </a:xfrm>
          <a:prstGeom prst="ellipse">
            <a:avLst/>
          </a:prstGeom>
          <a:solidFill>
            <a:srgbClr val="0B3D42"/>
          </a:solidFill>
          <a:ln/>
        </p:spPr>
      </p:sp>
      <p:sp>
        <p:nvSpPr>
          <p:cNvPr id="32" name="Shape 30"/>
          <p:cNvSpPr/>
          <p:nvPr/>
        </p:nvSpPr>
        <p:spPr>
          <a:xfrm>
            <a:off x="10424160" y="2980944"/>
            <a:ext cx="0" cy="640080"/>
          </a:xfrm>
          <a:prstGeom prst="line">
            <a:avLst/>
          </a:prstGeom>
          <a:noFill/>
          <a:ln w="25400">
            <a:solidFill>
              <a:srgbClr val="0B3D4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966960" y="3246120"/>
            <a:ext cx="914400" cy="0"/>
          </a:xfrm>
          <a:prstGeom prst="line">
            <a:avLst/>
          </a:prstGeom>
          <a:noFill/>
          <a:ln w="25400">
            <a:solidFill>
              <a:srgbClr val="0B3D4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424160" y="3621024"/>
            <a:ext cx="0" cy="502920"/>
          </a:xfrm>
          <a:prstGeom prst="line">
            <a:avLst/>
          </a:prstGeom>
          <a:noFill/>
          <a:ln w="25400">
            <a:solidFill>
              <a:srgbClr val="0B3D4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424160" y="3621024"/>
            <a:ext cx="365760" cy="502920"/>
          </a:xfrm>
          <a:prstGeom prst="line">
            <a:avLst/>
          </a:prstGeom>
          <a:noFill/>
          <a:ln w="25400">
            <a:solidFill>
              <a:srgbClr val="0B3D4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601200" y="41605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Five · System Requirement Specification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3D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9875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Design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052560" y="640080"/>
            <a:ext cx="2743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0" b="1" dirty="0">
                <a:solidFill>
                  <a:srgbClr val="028090">
                    <a:alpha val="4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0" dirty="0"/>
          </a:p>
        </p:txBody>
      </p:sp>
      <p:sp>
        <p:nvSpPr>
          <p:cNvPr id="5" name="Shape 3"/>
          <p:cNvSpPr/>
          <p:nvPr/>
        </p:nvSpPr>
        <p:spPr>
          <a:xfrm>
            <a:off x="822960" y="3703320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3703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80160" y="3657600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&amp; Data Modeling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4160520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4160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80160" y="4114800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22960" y="4617720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6177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80160" y="4572000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 Process Models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22960" y="5074920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5074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80160" y="5029200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 Design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22960" y="5532120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55321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80160" y="5486400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&amp; Flowcharts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22960" y="5989320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5989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80160" y="5943600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Design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64922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the purpose of this chapter: to define HOW the system will be built, based on Chapter 5's requirements.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Summarise the design approach: architectural style, modeling notations used (DFD, ERD, UML).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 the chapter structure for the audience.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406640" y="1691640"/>
            <a:ext cx="4206240" cy="4480560"/>
          </a:xfrm>
          <a:prstGeom prst="roundRect">
            <a:avLst>
              <a:gd name="adj" fmla="val 2609"/>
            </a:avLst>
          </a:prstGeom>
          <a:solidFill>
            <a:srgbClr val="EAF4F3"/>
          </a:solidFill>
          <a:ln/>
          <a:effectLst>
            <a:outerShdw blurRad="76200" dist="25400" dir="5400000" algn="bl" rotWithShape="0">
              <a:srgbClr val="1B1B1B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680960" y="1920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680960" y="2331720"/>
            <a:ext cx="3657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 = WHAT the system must do. Chapter 6 = HOW it will do it.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Six · System Design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SIX · 6.2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layered / client–server architecture — adapt layers and technologies to your system.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280160" y="1965960"/>
            <a:ext cx="9601200" cy="1143000"/>
          </a:xfrm>
          <a:prstGeom prst="roundRect">
            <a:avLst>
              <a:gd name="adj" fmla="val 6400"/>
            </a:avLst>
          </a:prstGeom>
          <a:solidFill>
            <a:srgbClr val="EAF4F3"/>
          </a:solidFill>
          <a:ln/>
        </p:spPr>
      </p:sp>
      <p:sp>
        <p:nvSpPr>
          <p:cNvPr id="6" name="Text 4"/>
          <p:cNvSpPr/>
          <p:nvPr/>
        </p:nvSpPr>
        <p:spPr>
          <a:xfrm>
            <a:off x="1554480" y="213055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54480" y="2514600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/ Mobile UI, User Interaction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080760" y="3108960"/>
            <a:ext cx="0" cy="22860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280160" y="3337560"/>
            <a:ext cx="9601200" cy="1143000"/>
          </a:xfrm>
          <a:prstGeom prst="roundRect">
            <a:avLst>
              <a:gd name="adj" fmla="val 6400"/>
            </a:avLst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1554480" y="350215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554480" y="3886200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4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Logic, APIs, Services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80760" y="4480560"/>
            <a:ext cx="0" cy="22860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1280160" y="4709160"/>
            <a:ext cx="9601200" cy="1143000"/>
          </a:xfrm>
          <a:prstGeom prst="roundRect">
            <a:avLst>
              <a:gd name="adj" fmla="val 6400"/>
            </a:avLst>
          </a:prstGeom>
          <a:solidFill>
            <a:srgbClr val="EAF4F3"/>
          </a:solidFill>
          <a:ln/>
        </p:spPr>
      </p:sp>
      <p:sp>
        <p:nvSpPr>
          <p:cNvPr id="14" name="Text 12"/>
          <p:cNvSpPr/>
          <p:nvPr/>
        </p:nvSpPr>
        <p:spPr>
          <a:xfrm>
            <a:off x="1554480" y="487375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554480" y="5257800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Database, File Storage, Cache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Six · System Design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Modeling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64922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Diagram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the system as a single process and its interactions with external entities.</a:t>
            </a:r>
            <a:endParaRPr lang="en-US" sz="1600" dirty="0"/>
          </a:p>
          <a:p>
            <a:pPr marL="0" indent="0">
              <a:spcBef>
                <a:spcPts val="1000"/>
              </a:spcBef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 Diagrams (DFDs)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Diagram (Level 0) – highest-level view of data flow.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 – decomposes the system into its major sub-processes.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consistent notation throughout (Gane &amp; Sarson or Yourdon).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406640" y="1691640"/>
            <a:ext cx="4206240" cy="4480560"/>
          </a:xfrm>
          <a:prstGeom prst="roundRect">
            <a:avLst>
              <a:gd name="adj" fmla="val 2609"/>
            </a:avLst>
          </a:prstGeom>
          <a:solidFill>
            <a:srgbClr val="EAF4F3"/>
          </a:solidFill>
          <a:ln/>
          <a:effectLst>
            <a:outerShdw blurRad="76200" dist="25400" dir="5400000" algn="bl" rotWithShape="0">
              <a:srgbClr val="1B1B1B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680960" y="1920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OF PRESENTATION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680960" y="2331720"/>
            <a:ext cx="3657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the context diagram first, then drill into Level 1 on the next slide.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Six · System Design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Design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64922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Relationship Diagram (ERD)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Visualises entities, attributes, and relationships (see diagram on next slide).</a:t>
            </a:r>
            <a:endParaRPr lang="en-US" sz="1600" dirty="0"/>
          </a:p>
          <a:p>
            <a:pPr marL="0" indent="0">
              <a:spcBef>
                <a:spcPts val="1000"/>
              </a:spcBef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Schema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definition of tables, keys, and constraints.</a:t>
            </a:r>
            <a:endParaRPr lang="en-US" sz="1600" dirty="0"/>
          </a:p>
          <a:p>
            <a:pPr marL="0" indent="0">
              <a:spcBef>
                <a:spcPts val="1000"/>
              </a:spcBef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Dictionary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name, data type, size, description, and constraints for every attribute.</a:t>
            </a:r>
            <a:endParaRPr lang="en-US" sz="1600" dirty="0"/>
          </a:p>
          <a:p>
            <a:pPr marL="0" indent="0">
              <a:spcBef>
                <a:spcPts val="1000"/>
              </a:spcBef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Structures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layout of each table with primary/foreign keys highlighted.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406640" y="1691640"/>
            <a:ext cx="4206240" cy="4480560"/>
          </a:xfrm>
          <a:prstGeom prst="roundRect">
            <a:avLst>
              <a:gd name="adj" fmla="val 2609"/>
            </a:avLst>
          </a:prstGeom>
          <a:solidFill>
            <a:srgbClr val="EAF4F3"/>
          </a:solidFill>
          <a:ln/>
          <a:effectLst>
            <a:outerShdw blurRad="76200" dist="25400" dir="5400000" algn="bl" rotWithShape="0">
              <a:srgbClr val="1B1B1B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680960" y="1920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680960" y="2331720"/>
            <a:ext cx="3657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one-page data dictionary table works well appended after this slide.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Six · System Design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CHAPTER SIX · 6.5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Process Modeling – UML Models. (</a:t>
            </a:r>
            <a:r>
              <a:rPr lang="en-US" sz="14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USE ANY OF THE FOLLOWING BASED ON THE SYSTEM APPROACH)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85800" y="19842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85800" y="2441448"/>
            <a:ext cx="23317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Use Case Diagram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429000" y="19842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429000" y="2441448"/>
            <a:ext cx="23317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Use Case Descriptions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035040" y="187452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6172200" y="19842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172200" y="2441448"/>
            <a:ext cx="23317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Activity Diagram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778240" y="187452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8915400" y="19842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915400" y="2441448"/>
            <a:ext cx="23317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Sequence Diagram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5204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EAF4F3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6301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85800" y="4087368"/>
            <a:ext cx="23317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Class Diagram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291840" y="35204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EAF4F3"/>
          </a:solidFill>
          <a:ln/>
        </p:spPr>
      </p:sp>
      <p:sp>
        <p:nvSpPr>
          <p:cNvPr id="20" name="Text 18"/>
          <p:cNvSpPr/>
          <p:nvPr/>
        </p:nvSpPr>
        <p:spPr>
          <a:xfrm>
            <a:off x="3429000" y="36301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429000" y="4087368"/>
            <a:ext cx="23317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State Diagram (optional)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035040" y="35204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EAF4F3"/>
          </a:solidFill>
          <a:ln/>
        </p:spPr>
      </p:sp>
      <p:sp>
        <p:nvSpPr>
          <p:cNvPr id="23" name="Text 21"/>
          <p:cNvSpPr/>
          <p:nvPr/>
        </p:nvSpPr>
        <p:spPr>
          <a:xfrm>
            <a:off x="6172200" y="36301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172200" y="4087368"/>
            <a:ext cx="23317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Diagram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778240" y="35204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EAF4F3"/>
          </a:solidFill>
          <a:ln/>
        </p:spPr>
      </p:sp>
      <p:sp>
        <p:nvSpPr>
          <p:cNvPr id="26" name="Text 24"/>
          <p:cNvSpPr/>
          <p:nvPr/>
        </p:nvSpPr>
        <p:spPr>
          <a:xfrm>
            <a:off x="8915400" y="36301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915400" y="4087368"/>
            <a:ext cx="23317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Component Diagram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48640" y="56235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For each diagram: state its purpose, show the diagram, and add one sentence explaining what it demonstrates about your system.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Chapter Six · System Design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SIX · 6.7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Interface Design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8E4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74520"/>
            <a:ext cx="2606040" cy="274320"/>
          </a:xfrm>
          <a:prstGeom prst="rect">
            <a:avLst/>
          </a:prstGeom>
          <a:solidFill>
            <a:srgbClr val="0B3D42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" y="1965960"/>
            <a:ext cx="91440" cy="9144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7" name="Shape 5"/>
          <p:cNvSpPr/>
          <p:nvPr/>
        </p:nvSpPr>
        <p:spPr>
          <a:xfrm>
            <a:off x="804672" y="1965960"/>
            <a:ext cx="91440" cy="914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2377440"/>
            <a:ext cx="2240280" cy="320040"/>
          </a:xfrm>
          <a:prstGeom prst="rect">
            <a:avLst/>
          </a:prstGeom>
          <a:solidFill>
            <a:srgbClr val="EAF4F3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2788920"/>
            <a:ext cx="2240280" cy="822960"/>
          </a:xfrm>
          <a:prstGeom prst="rect">
            <a:avLst/>
          </a:prstGeom>
          <a:solidFill>
            <a:srgbClr val="DCEEEC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3703320"/>
            <a:ext cx="1074420" cy="640080"/>
          </a:xfrm>
          <a:prstGeom prst="rect">
            <a:avLst/>
          </a:prstGeom>
          <a:solidFill>
            <a:srgbClr val="EAF4F3"/>
          </a:solidFill>
          <a:ln/>
        </p:spPr>
      </p:sp>
      <p:sp>
        <p:nvSpPr>
          <p:cNvPr id="11" name="Shape 9"/>
          <p:cNvSpPr/>
          <p:nvPr/>
        </p:nvSpPr>
        <p:spPr>
          <a:xfrm>
            <a:off x="1897380" y="3703320"/>
            <a:ext cx="1074420" cy="640080"/>
          </a:xfrm>
          <a:prstGeom prst="rect">
            <a:avLst/>
          </a:prstGeom>
          <a:solidFill>
            <a:srgbClr val="EAF4F3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43891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Screen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85800" y="46634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form, error states, password recovery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91840" y="187452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8E4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91840" y="1874520"/>
            <a:ext cx="2606040" cy="274320"/>
          </a:xfrm>
          <a:prstGeom prst="rect">
            <a:avLst/>
          </a:prstGeom>
          <a:solidFill>
            <a:srgbClr val="0B3D42"/>
          </a:solidFill>
          <a:ln/>
        </p:spPr>
      </p:sp>
      <p:sp>
        <p:nvSpPr>
          <p:cNvPr id="16" name="Shape 14"/>
          <p:cNvSpPr/>
          <p:nvPr/>
        </p:nvSpPr>
        <p:spPr>
          <a:xfrm>
            <a:off x="3401568" y="1965960"/>
            <a:ext cx="91440" cy="9144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17" name="Shape 15"/>
          <p:cNvSpPr/>
          <p:nvPr/>
        </p:nvSpPr>
        <p:spPr>
          <a:xfrm>
            <a:off x="3547872" y="1965960"/>
            <a:ext cx="91440" cy="914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8" name="Shape 16"/>
          <p:cNvSpPr/>
          <p:nvPr/>
        </p:nvSpPr>
        <p:spPr>
          <a:xfrm>
            <a:off x="3474720" y="2377440"/>
            <a:ext cx="2240280" cy="320040"/>
          </a:xfrm>
          <a:prstGeom prst="rect">
            <a:avLst/>
          </a:prstGeom>
          <a:solidFill>
            <a:srgbClr val="EAF4F3"/>
          </a:solidFill>
          <a:ln/>
        </p:spPr>
      </p:sp>
      <p:sp>
        <p:nvSpPr>
          <p:cNvPr id="19" name="Shape 17"/>
          <p:cNvSpPr/>
          <p:nvPr/>
        </p:nvSpPr>
        <p:spPr>
          <a:xfrm>
            <a:off x="3474720" y="2788920"/>
            <a:ext cx="2240280" cy="822960"/>
          </a:xfrm>
          <a:prstGeom prst="rect">
            <a:avLst/>
          </a:prstGeom>
          <a:solidFill>
            <a:srgbClr val="DCEEEC"/>
          </a:solidFill>
          <a:ln/>
        </p:spPr>
      </p:sp>
      <p:sp>
        <p:nvSpPr>
          <p:cNvPr id="20" name="Shape 18"/>
          <p:cNvSpPr/>
          <p:nvPr/>
        </p:nvSpPr>
        <p:spPr>
          <a:xfrm>
            <a:off x="3474720" y="3703320"/>
            <a:ext cx="1074420" cy="640080"/>
          </a:xfrm>
          <a:prstGeom prst="rect">
            <a:avLst/>
          </a:prstGeom>
          <a:solidFill>
            <a:srgbClr val="EAF4F3"/>
          </a:solidFill>
          <a:ln/>
        </p:spPr>
      </p:sp>
      <p:sp>
        <p:nvSpPr>
          <p:cNvPr id="21" name="Shape 19"/>
          <p:cNvSpPr/>
          <p:nvPr/>
        </p:nvSpPr>
        <p:spPr>
          <a:xfrm>
            <a:off x="4640580" y="3703320"/>
            <a:ext cx="1074420" cy="640080"/>
          </a:xfrm>
          <a:prstGeom prst="rect">
            <a:avLst/>
          </a:prstGeom>
          <a:solidFill>
            <a:srgbClr val="EAF4F3"/>
          </a:solidFill>
          <a:ln/>
        </p:spPr>
      </p:sp>
      <p:sp>
        <p:nvSpPr>
          <p:cNvPr id="22" name="Text 20"/>
          <p:cNvSpPr/>
          <p:nvPr/>
        </p:nvSpPr>
        <p:spPr>
          <a:xfrm>
            <a:off x="3429000" y="43891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429000" y="46634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metrics, navigation, recent activity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035040" y="187452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8E4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35040" y="1874520"/>
            <a:ext cx="2606040" cy="274320"/>
          </a:xfrm>
          <a:prstGeom prst="rect">
            <a:avLst/>
          </a:prstGeom>
          <a:solidFill>
            <a:srgbClr val="0B3D42"/>
          </a:solidFill>
          <a:ln/>
        </p:spPr>
      </p:sp>
      <p:sp>
        <p:nvSpPr>
          <p:cNvPr id="26" name="Shape 24"/>
          <p:cNvSpPr/>
          <p:nvPr/>
        </p:nvSpPr>
        <p:spPr>
          <a:xfrm>
            <a:off x="6144768" y="1965960"/>
            <a:ext cx="91440" cy="9144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27" name="Shape 25"/>
          <p:cNvSpPr/>
          <p:nvPr/>
        </p:nvSpPr>
        <p:spPr>
          <a:xfrm>
            <a:off x="6291072" y="1965960"/>
            <a:ext cx="91440" cy="914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8" name="Shape 26"/>
          <p:cNvSpPr/>
          <p:nvPr/>
        </p:nvSpPr>
        <p:spPr>
          <a:xfrm>
            <a:off x="6217920" y="2377440"/>
            <a:ext cx="2240280" cy="320040"/>
          </a:xfrm>
          <a:prstGeom prst="rect">
            <a:avLst/>
          </a:prstGeom>
          <a:solidFill>
            <a:srgbClr val="EAF4F3"/>
          </a:solidFill>
          <a:ln/>
        </p:spPr>
      </p:sp>
      <p:sp>
        <p:nvSpPr>
          <p:cNvPr id="29" name="Shape 27"/>
          <p:cNvSpPr/>
          <p:nvPr/>
        </p:nvSpPr>
        <p:spPr>
          <a:xfrm>
            <a:off x="6217920" y="2788920"/>
            <a:ext cx="2240280" cy="822960"/>
          </a:xfrm>
          <a:prstGeom prst="rect">
            <a:avLst/>
          </a:prstGeom>
          <a:solidFill>
            <a:srgbClr val="DCEEEC"/>
          </a:solidFill>
          <a:ln/>
        </p:spPr>
      </p:sp>
      <p:sp>
        <p:nvSpPr>
          <p:cNvPr id="30" name="Shape 28"/>
          <p:cNvSpPr/>
          <p:nvPr/>
        </p:nvSpPr>
        <p:spPr>
          <a:xfrm>
            <a:off x="6217920" y="3703320"/>
            <a:ext cx="1074420" cy="640080"/>
          </a:xfrm>
          <a:prstGeom prst="rect">
            <a:avLst/>
          </a:prstGeom>
          <a:solidFill>
            <a:srgbClr val="EAF4F3"/>
          </a:solidFill>
          <a:ln/>
        </p:spPr>
      </p:sp>
      <p:sp>
        <p:nvSpPr>
          <p:cNvPr id="31" name="Shape 29"/>
          <p:cNvSpPr/>
          <p:nvPr/>
        </p:nvSpPr>
        <p:spPr>
          <a:xfrm>
            <a:off x="7383780" y="3703320"/>
            <a:ext cx="1074420" cy="640080"/>
          </a:xfrm>
          <a:prstGeom prst="rect">
            <a:avLst/>
          </a:prstGeom>
          <a:solidFill>
            <a:srgbClr val="EAF4F3"/>
          </a:solidFill>
          <a:ln/>
        </p:spPr>
      </p:sp>
      <p:sp>
        <p:nvSpPr>
          <p:cNvPr id="32" name="Text 30"/>
          <p:cNvSpPr/>
          <p:nvPr/>
        </p:nvSpPr>
        <p:spPr>
          <a:xfrm>
            <a:off x="6172200" y="43891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172200" y="46634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entry, validation, confirmation messages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8778240" y="187452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8E4E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778240" y="1874520"/>
            <a:ext cx="2606040" cy="274320"/>
          </a:xfrm>
          <a:prstGeom prst="rect">
            <a:avLst/>
          </a:prstGeom>
          <a:solidFill>
            <a:srgbClr val="0B3D42"/>
          </a:solidFill>
          <a:ln/>
        </p:spPr>
      </p:sp>
      <p:sp>
        <p:nvSpPr>
          <p:cNvPr id="36" name="Shape 34"/>
          <p:cNvSpPr/>
          <p:nvPr/>
        </p:nvSpPr>
        <p:spPr>
          <a:xfrm>
            <a:off x="8887968" y="1965960"/>
            <a:ext cx="91440" cy="9144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37" name="Shape 35"/>
          <p:cNvSpPr/>
          <p:nvPr/>
        </p:nvSpPr>
        <p:spPr>
          <a:xfrm>
            <a:off x="9034272" y="1965960"/>
            <a:ext cx="91440" cy="914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8" name="Shape 36"/>
          <p:cNvSpPr/>
          <p:nvPr/>
        </p:nvSpPr>
        <p:spPr>
          <a:xfrm>
            <a:off x="8961120" y="2377440"/>
            <a:ext cx="2240280" cy="320040"/>
          </a:xfrm>
          <a:prstGeom prst="rect">
            <a:avLst/>
          </a:prstGeom>
          <a:solidFill>
            <a:srgbClr val="EAF4F3"/>
          </a:solidFill>
          <a:ln/>
        </p:spPr>
      </p:sp>
      <p:sp>
        <p:nvSpPr>
          <p:cNvPr id="39" name="Shape 37"/>
          <p:cNvSpPr/>
          <p:nvPr/>
        </p:nvSpPr>
        <p:spPr>
          <a:xfrm>
            <a:off x="8961120" y="2788920"/>
            <a:ext cx="2240280" cy="822960"/>
          </a:xfrm>
          <a:prstGeom prst="rect">
            <a:avLst/>
          </a:prstGeom>
          <a:solidFill>
            <a:srgbClr val="DCEEEC"/>
          </a:solidFill>
          <a:ln/>
        </p:spPr>
      </p:sp>
      <p:sp>
        <p:nvSpPr>
          <p:cNvPr id="40" name="Shape 38"/>
          <p:cNvSpPr/>
          <p:nvPr/>
        </p:nvSpPr>
        <p:spPr>
          <a:xfrm>
            <a:off x="8961120" y="3703320"/>
            <a:ext cx="1074420" cy="640080"/>
          </a:xfrm>
          <a:prstGeom prst="rect">
            <a:avLst/>
          </a:prstGeom>
          <a:solidFill>
            <a:srgbClr val="EAF4F3"/>
          </a:solidFill>
          <a:ln/>
        </p:spPr>
      </p:sp>
      <p:sp>
        <p:nvSpPr>
          <p:cNvPr id="41" name="Shape 39"/>
          <p:cNvSpPr/>
          <p:nvPr/>
        </p:nvSpPr>
        <p:spPr>
          <a:xfrm>
            <a:off x="10126980" y="3703320"/>
            <a:ext cx="1074420" cy="640080"/>
          </a:xfrm>
          <a:prstGeom prst="rect">
            <a:avLst/>
          </a:prstGeom>
          <a:solidFill>
            <a:srgbClr val="EAF4F3"/>
          </a:solidFill>
          <a:ln/>
        </p:spPr>
      </p:sp>
      <p:sp>
        <p:nvSpPr>
          <p:cNvPr id="42" name="Text 40"/>
          <p:cNvSpPr/>
          <p:nvPr/>
        </p:nvSpPr>
        <p:spPr>
          <a:xfrm>
            <a:off x="8915400" y="43891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8915400" y="46634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Filters, tables/charts, export options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Six · System Design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6.8 – 6.9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Hardware, ML &amp; Algorithm Design (if applicable)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64922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6.8 Hardware or Automation Design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diagrams, sensor/actuator layout, and component list for embedded or IoT projects.</a:t>
            </a:r>
            <a:endParaRPr lang="en-US" sz="1600" dirty="0"/>
          </a:p>
          <a:p>
            <a:pPr marL="0" indent="0">
              <a:spcBef>
                <a:spcPts val="1000"/>
              </a:spcBef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6.9 Machine Learning &amp; Dataset Design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source, size, preprocessing steps, feature selection, train/test split.</a:t>
            </a:r>
            <a:endParaRPr lang="en-US" sz="1600" dirty="0"/>
          </a:p>
          <a:p>
            <a:pPr marL="0" indent="0">
              <a:spcBef>
                <a:spcPts val="1000"/>
              </a:spcBef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6.9 Algorithms of the Working System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Pseudocode or step-by-step logic for the core algorithm(s) driving the system.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406640" y="1691640"/>
            <a:ext cx="4206240" cy="4480560"/>
          </a:xfrm>
          <a:prstGeom prst="roundRect">
            <a:avLst>
              <a:gd name="adj" fmla="val 2609"/>
            </a:avLst>
          </a:prstGeom>
          <a:solidFill>
            <a:srgbClr val="EAF4F3"/>
          </a:solidFill>
          <a:ln/>
          <a:effectLst>
            <a:outerShdw blurRad="76200" dist="25400" dir="5400000" algn="bl" rotWithShape="0">
              <a:srgbClr val="1B1B1B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680960" y="1920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APPLICABLE?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680960" y="2331720"/>
            <a:ext cx="3657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Omit the hardware/ML sub-sections entirely if not applicable to your project — don't leave placeholders.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Six · System Design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SIX · 6.10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Flowchart of the Working System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flow — replace steps and decisions with the actual logic of your core process.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017520" y="1874520"/>
            <a:ext cx="2377440" cy="548640"/>
          </a:xfrm>
          <a:prstGeom prst="ellipse">
            <a:avLst/>
          </a:prstGeom>
          <a:solidFill>
            <a:srgbClr val="0B3D42"/>
          </a:solidFill>
          <a:ln/>
        </p:spPr>
      </p:sp>
      <p:sp>
        <p:nvSpPr>
          <p:cNvPr id="6" name="Text 4"/>
          <p:cNvSpPr/>
          <p:nvPr/>
        </p:nvSpPr>
        <p:spPr>
          <a:xfrm>
            <a:off x="3017520" y="18745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206240" y="2423160"/>
            <a:ext cx="0" cy="182880"/>
          </a:xfrm>
          <a:prstGeom prst="line">
            <a:avLst/>
          </a:prstGeom>
          <a:noFill/>
          <a:ln w="19050">
            <a:solidFill>
              <a:srgbClr val="0B3D42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017520" y="2606040"/>
            <a:ext cx="2377440" cy="548640"/>
          </a:xfrm>
          <a:prstGeom prst="rect">
            <a:avLst/>
          </a:prstGeom>
          <a:solidFill>
            <a:srgbClr val="EAF4F3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17520" y="26060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user input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06240" y="3154680"/>
            <a:ext cx="0" cy="182880"/>
          </a:xfrm>
          <a:prstGeom prst="line">
            <a:avLst/>
          </a:prstGeom>
          <a:noFill/>
          <a:ln w="19050">
            <a:solidFill>
              <a:srgbClr val="0B3D42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743200" y="3337560"/>
            <a:ext cx="2926080" cy="822960"/>
          </a:xfrm>
          <a:prstGeom prst="diamond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0" y="33375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valid?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206240" y="4160520"/>
            <a:ext cx="0" cy="182880"/>
          </a:xfrm>
          <a:prstGeom prst="line">
            <a:avLst/>
          </a:prstGeom>
          <a:noFill/>
          <a:ln w="19050">
            <a:solidFill>
              <a:srgbClr val="0B3D42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017520" y="4343400"/>
            <a:ext cx="2377440" cy="548640"/>
          </a:xfrm>
          <a:prstGeom prst="rect">
            <a:avLst/>
          </a:prstGeom>
          <a:solidFill>
            <a:srgbClr val="EAF4F3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17520" y="43434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request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206240" y="4892040"/>
            <a:ext cx="0" cy="182880"/>
          </a:xfrm>
          <a:prstGeom prst="line">
            <a:avLst/>
          </a:prstGeom>
          <a:noFill/>
          <a:ln w="19050">
            <a:solidFill>
              <a:srgbClr val="0B3D42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017520" y="5074920"/>
            <a:ext cx="2377440" cy="548640"/>
          </a:xfrm>
          <a:prstGeom prst="rect">
            <a:avLst/>
          </a:prstGeom>
          <a:solidFill>
            <a:srgbClr val="EAF4F3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17520" y="50749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/ display result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206240" y="5623560"/>
            <a:ext cx="0" cy="182880"/>
          </a:xfrm>
          <a:prstGeom prst="line">
            <a:avLst/>
          </a:prstGeom>
          <a:noFill/>
          <a:ln w="19050">
            <a:solidFill>
              <a:srgbClr val="0B3D42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3017520" y="5806440"/>
            <a:ext cx="2377440" cy="548640"/>
          </a:xfrm>
          <a:prstGeom prst="ellipse">
            <a:avLst/>
          </a:prstGeom>
          <a:solidFill>
            <a:srgbClr val="0B3D42"/>
          </a:solidFill>
          <a:ln/>
        </p:spPr>
      </p:sp>
      <p:sp>
        <p:nvSpPr>
          <p:cNvPr id="21" name="Text 19"/>
          <p:cNvSpPr/>
          <p:nvPr/>
        </p:nvSpPr>
        <p:spPr>
          <a:xfrm>
            <a:off x="3017520" y="58064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852160" y="36118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→ show error, prompt re-entry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669280" y="3749040"/>
            <a:ext cx="365760" cy="0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Six · System Design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6.11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Design (if applicable)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64922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&amp; authorization mechanisms (roles, permissions, session management).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protection: encryption at rest and in transit, secure password storage (hashing).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 and protection against common vulnerabilities (SQL injection, XSS, CSRF).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logging and monitoring for suspicious activity.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and disaster-recovery considerations.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406640" y="1691640"/>
            <a:ext cx="4206240" cy="4480560"/>
          </a:xfrm>
          <a:prstGeom prst="roundRect">
            <a:avLst>
              <a:gd name="adj" fmla="val 2609"/>
            </a:avLst>
          </a:prstGeom>
          <a:solidFill>
            <a:srgbClr val="EAF4F3"/>
          </a:solidFill>
          <a:ln/>
          <a:effectLst>
            <a:outerShdw blurRad="76200" dist="25400" dir="5400000" algn="bl" rotWithShape="0">
              <a:srgbClr val="1B1B1B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680960" y="1920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680960" y="2331720"/>
            <a:ext cx="3657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the Security non-functional requirement from 5.5 to show traceability.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Six · System Design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3D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7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9875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Implementation, Testing and Results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052560" y="640080"/>
            <a:ext cx="2743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0" b="1" dirty="0">
                <a:solidFill>
                  <a:srgbClr val="028090">
                    <a:alpha val="4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6000" dirty="0"/>
          </a:p>
        </p:txBody>
      </p:sp>
      <p:sp>
        <p:nvSpPr>
          <p:cNvPr id="5" name="Shape 3"/>
          <p:cNvSpPr/>
          <p:nvPr/>
        </p:nvSpPr>
        <p:spPr>
          <a:xfrm>
            <a:off x="822960" y="3703320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3703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80160" y="3657600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Environment &amp; Tools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4160520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4160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80160" y="4114800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of Modules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22960" y="4617720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6177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80160" y="4572000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Strategy &amp; Test Cases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22960" y="5074920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5074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80160" y="5029200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Discussion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22960" y="5532120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55321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80160" y="5486400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Screenshots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64922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the purpose of this chapter: to show the system was built, tested, and works as specified.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Briefly recap the transition from design (Chapter 6) to a working system.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 the chapter structure for the audience.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406640" y="1691640"/>
            <a:ext cx="4206240" cy="4480560"/>
          </a:xfrm>
          <a:prstGeom prst="roundRect">
            <a:avLst>
              <a:gd name="adj" fmla="val 2609"/>
            </a:avLst>
          </a:prstGeom>
          <a:solidFill>
            <a:srgbClr val="EAF4F3"/>
          </a:solidFill>
          <a:ln/>
          <a:effectLst>
            <a:outerShdw blurRad="76200" dist="25400" dir="5400000" algn="bl" rotWithShape="0">
              <a:srgbClr val="1B1B1B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680960" y="1920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680960" y="2331720"/>
            <a:ext cx="3657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this brief — the audience wants to see the system, not hear about it.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Seven · Implementation, Testing &amp; Results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7.2 – 7.3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Development Environment &amp; Software Tools Used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26380" cy="4343400"/>
          </a:xfrm>
          <a:prstGeom prst="roundRect">
            <a:avLst>
              <a:gd name="adj" fmla="val 1684"/>
            </a:avLst>
          </a:prstGeom>
          <a:solidFill>
            <a:srgbClr val="EAF4F3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947672"/>
            <a:ext cx="50520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Environment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85800" y="2468880"/>
            <a:ext cx="50520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 used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/ code editor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(e.g. Git)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vs cloud development setup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103620" y="1783080"/>
            <a:ext cx="5326380" cy="4343400"/>
          </a:xfrm>
          <a:prstGeom prst="roundRect">
            <a:avLst>
              <a:gd name="adj" fmla="val 1684"/>
            </a:avLst>
          </a:prstGeom>
          <a:solidFill>
            <a:srgbClr val="DCEEEC"/>
          </a:solidFill>
          <a:ln/>
        </p:spPr>
      </p:sp>
      <p:sp>
        <p:nvSpPr>
          <p:cNvPr id="8" name="Text 6"/>
          <p:cNvSpPr/>
          <p:nvPr/>
        </p:nvSpPr>
        <p:spPr>
          <a:xfrm>
            <a:off x="6240780" y="1947672"/>
            <a:ext cx="50520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Tools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240780" y="2468880"/>
            <a:ext cx="50520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languages &amp; frameworks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management system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tools/frameworks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documentation tools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Seven · Implementation, Testing &amp; Results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of Modules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64922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the system down into the major modules built (e.g. Authentication, Reporting, Notifications).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module: briefly describe its function and any notable implementation decisions.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 one or two technically interesting challenges and how they were solved.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pasting large code blocks — show a short, illustrative snippet only if essential.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406640" y="1691640"/>
            <a:ext cx="4206240" cy="4480560"/>
          </a:xfrm>
          <a:prstGeom prst="roundRect">
            <a:avLst>
              <a:gd name="adj" fmla="val 2609"/>
            </a:avLst>
          </a:prstGeom>
          <a:solidFill>
            <a:srgbClr val="EAF4F3"/>
          </a:solidFill>
          <a:ln/>
          <a:effectLst>
            <a:outerShdw blurRad="76200" dist="25400" dir="5400000" algn="bl" rotWithShape="0">
              <a:srgbClr val="1B1B1B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680960" y="1920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680960" y="2331720"/>
            <a:ext cx="3657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each module back to the functional requirements (FR-xx) it fulfils.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Seven · Implementation, Testing &amp; Results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Strategy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level(s) of testing performed and the tools used for each.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514600" cy="2103120"/>
          </a:xfrm>
          <a:prstGeom prst="roundRect">
            <a:avLst>
              <a:gd name="adj" fmla="val 4348"/>
            </a:avLst>
          </a:prstGeom>
          <a:solidFill>
            <a:srgbClr val="EAF4F3"/>
          </a:solidFill>
          <a:ln/>
        </p:spPr>
      </p:sp>
      <p:sp>
        <p:nvSpPr>
          <p:cNvPr id="6" name="Shape 4"/>
          <p:cNvSpPr/>
          <p:nvPr/>
        </p:nvSpPr>
        <p:spPr>
          <a:xfrm>
            <a:off x="1495044" y="2167128"/>
            <a:ext cx="621792" cy="62179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1495044" y="216712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58368" y="2880360"/>
            <a:ext cx="2295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Testing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85800" y="320040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individual functions/components in isolation.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37560" y="1965960"/>
            <a:ext cx="2514600" cy="2103120"/>
          </a:xfrm>
          <a:prstGeom prst="roundRect">
            <a:avLst>
              <a:gd name="adj" fmla="val 4348"/>
            </a:avLst>
          </a:prstGeom>
          <a:solidFill>
            <a:srgbClr val="EAF4F3"/>
          </a:solidFill>
          <a:ln/>
        </p:spPr>
      </p:sp>
      <p:sp>
        <p:nvSpPr>
          <p:cNvPr id="11" name="Shape 9"/>
          <p:cNvSpPr/>
          <p:nvPr/>
        </p:nvSpPr>
        <p:spPr>
          <a:xfrm>
            <a:off x="4283964" y="2167128"/>
            <a:ext cx="621792" cy="62179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4283964" y="216712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447288" y="2880360"/>
            <a:ext cx="2295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Testing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474720" y="320040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modules work correctly together.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26480" y="1965960"/>
            <a:ext cx="2514600" cy="2103120"/>
          </a:xfrm>
          <a:prstGeom prst="roundRect">
            <a:avLst>
              <a:gd name="adj" fmla="val 4348"/>
            </a:avLst>
          </a:prstGeom>
          <a:solidFill>
            <a:srgbClr val="EAF4F3"/>
          </a:solidFill>
          <a:ln/>
        </p:spPr>
      </p:sp>
      <p:sp>
        <p:nvSpPr>
          <p:cNvPr id="16" name="Shape 14"/>
          <p:cNvSpPr/>
          <p:nvPr/>
        </p:nvSpPr>
        <p:spPr>
          <a:xfrm>
            <a:off x="7072884" y="2167128"/>
            <a:ext cx="621792" cy="62179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7072884" y="216712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36208" y="2880360"/>
            <a:ext cx="2295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Testing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263640" y="320040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the complete system against requirements.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915400" y="1965960"/>
            <a:ext cx="2514600" cy="2103120"/>
          </a:xfrm>
          <a:prstGeom prst="roundRect">
            <a:avLst>
              <a:gd name="adj" fmla="val 4348"/>
            </a:avLst>
          </a:prstGeom>
          <a:solidFill>
            <a:srgbClr val="EAF4F3"/>
          </a:solidFill>
          <a:ln/>
        </p:spPr>
      </p:sp>
      <p:sp>
        <p:nvSpPr>
          <p:cNvPr id="21" name="Shape 19"/>
          <p:cNvSpPr/>
          <p:nvPr/>
        </p:nvSpPr>
        <p:spPr>
          <a:xfrm>
            <a:off x="9861804" y="2167128"/>
            <a:ext cx="621792" cy="62179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9861804" y="216712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025128" y="2880360"/>
            <a:ext cx="2295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Acceptance Testing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052560" y="320040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users confirm the system meets their needs.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Seven · Implementation, Testing &amp; Results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Cases (sample)</a:t>
            </a:r>
            <a:endParaRPr lang="en-US" sz="32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430000" cy="448056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46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Test ID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Input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Expected Result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</a:rPr>
                        <a:t>TC-01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</a:rPr>
                        <a:t>Valid login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</a:rPr>
                        <a:t>Correct email &amp; password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</a:rPr>
                        <a:t>User redirected to dashboard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</a:rPr>
                        <a:t>Pass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</a:rPr>
                        <a:t>TC-02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</a:rPr>
                        <a:t>Invalid login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</a:rPr>
                        <a:t>Incorrect password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</a:rPr>
                        <a:t>Error message displayed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</a:rPr>
                        <a:t>Pass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</a:rPr>
                        <a:t>TC-03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</a:rPr>
                        <a:t>Submit request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</a:rPr>
                        <a:t>Valid form data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</a:rPr>
                        <a:t>Request saved &amp; confirmation shown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</a:rPr>
                        <a:t>Pass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</a:rPr>
                        <a:t>TC-04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</a:rPr>
                        <a:t>Generate report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</a:rPr>
                        <a:t>Valid date range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</a:rPr>
                        <a:t>PDF report downloaded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</a:rPr>
                        <a:t>Pass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</a:rPr>
                        <a:t>TC-05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</a:rPr>
                        <a:t>Unauthorized access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</a:rPr>
                        <a:t>Non-admin accesses admin page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</a:rPr>
                        <a:t>Access denied / redirected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</a:rPr>
                        <a:t>Pass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Seven · Implementation, Testing &amp; Results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7.7 – 7.8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&amp; Discussion of Results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64922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7.7 Results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Summarise overall test pass rate and any performance metrics measured (e.g. response time).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results visually where possible (chart of pass/fail counts, performance graph).</a:t>
            </a:r>
            <a:endParaRPr lang="en-US" sz="1600" dirty="0"/>
          </a:p>
          <a:p>
            <a:pPr marL="0" indent="0">
              <a:spcBef>
                <a:spcPts val="1000"/>
              </a:spcBef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7.8 Discussion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 what the results mean: did the system meet its functional and non-functional requirements?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any limitations, edge cases, or known issues, and how they could be addressed.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406640" y="1691640"/>
            <a:ext cx="4206240" cy="4480560"/>
          </a:xfrm>
          <a:prstGeom prst="roundRect">
            <a:avLst>
              <a:gd name="adj" fmla="val 2609"/>
            </a:avLst>
          </a:prstGeom>
          <a:solidFill>
            <a:srgbClr val="EAF4F3"/>
          </a:solidFill>
          <a:ln/>
          <a:effectLst>
            <a:outerShdw blurRad="76200" dist="25400" dir="5400000" algn="bl" rotWithShape="0">
              <a:srgbClr val="1B1B1B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680960" y="1920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TIP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680960" y="2331720"/>
            <a:ext cx="3657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honest about limitations — examiners value critical reflection over a perfect-sounding result.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Seven · Implementation, Testing &amp; Results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SEVEN · 7.9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Screenshots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4–6 representative screenshots covering the main user journey (login → core feature → output/report).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EAF4F3"/>
          </a:solidFill>
          <a:ln w="12700">
            <a:solidFill>
              <a:srgbClr val="C7DEDB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548640" y="2628900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Screenshot ]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356616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/ Landing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172200" y="196596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EAF4F3"/>
          </a:solidFill>
          <a:ln w="12700">
            <a:solidFill>
              <a:srgbClr val="C7DEDB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6172200" y="2628900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Screenshot ]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309360" y="356616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 Screen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420624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EAF4F3"/>
          </a:solidFill>
          <a:ln w="12700">
            <a:solidFill>
              <a:srgbClr val="C7DEDB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548640" y="4869180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Screenshot ]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580644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Entry / Processing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72200" y="420624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EAF4F3"/>
          </a:solidFill>
          <a:ln w="12700">
            <a:solidFill>
              <a:srgbClr val="C7DEDB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6172200" y="4869180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Screenshot ]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09360" y="580644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/ Output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Seven · Implementation, Testing &amp; Results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B3D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840480"/>
            <a:ext cx="5486400" cy="54864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7744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32461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484632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tip: </a:t>
            </a:r>
            <a:r>
              <a:rPr lang="en-US" sz="130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each chapter to 3–5 minutes; lead with diagrams and screenshots, and hold detailed code or full test logs for the appendix / demo.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1028</TotalTime>
  <Words>2076</Words>
  <Application>Microsoft Office PowerPoint</Application>
  <PresentationFormat>Widescreen</PresentationFormat>
  <Paragraphs>415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shabilu hamisi</cp:lastModifiedBy>
  <cp:revision>4</cp:revision>
  <dcterms:created xsi:type="dcterms:W3CDTF">2026-07-27T10:08:09Z</dcterms:created>
  <dcterms:modified xsi:type="dcterms:W3CDTF">2026-07-29T23:04:14Z</dcterms:modified>
</cp:coreProperties>
</file>